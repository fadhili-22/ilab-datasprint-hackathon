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Target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Financial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Worsened</c:v>
                </c:pt>
                <c:pt idx="1">
                  <c:v>Stayed the same</c:v>
                </c:pt>
                <c:pt idx="2">
                  <c:v>Improved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52.6</c:v>
                </c:pt>
                <c:pt idx="1">
                  <c:v>26.9</c:v>
                </c:pt>
                <c:pt idx="2">
                  <c:v>20.5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F1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Pt>
            <c:idx val="3"/>
            <c:spPr>
              <a:solidFill>
                <a:srgbClr val="6E8BC9"/>
              </a:solidFill>
            </c:spPr>
          </c:dPt>
          <c:dPt>
            <c:idx val="4"/>
            <c:spPr>
              <a:solidFill>
                <a:srgbClr val="6E8BC9"/>
              </a:solidFill>
            </c:spPr>
          </c:dPt>
          <c:dPt>
            <c:idx val="5"/>
            <c:spPr>
              <a:solidFill>
                <a:srgbClr val="27AE60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8B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E8BC9"/>
              </a:solidFill>
              <a:effectLst/>
            </c:spPr>
          </c:dPt>
          <c:cat>
            <c:strRef>
              <c:f>Sheet1!$A$2:$A$7</c:f>
              <c:strCache>
                <c:ptCount val="6"/>
                <c:pt idx="0">
                  <c:v>LR</c:v>
                </c:pt>
                <c:pt idx="1">
                  <c:v>RF</c:v>
                </c:pt>
                <c:pt idx="2">
                  <c:v>LGBM</c:v>
                </c:pt>
                <c:pt idx="3">
                  <c:v>RF+SM</c:v>
                </c:pt>
                <c:pt idx="4">
                  <c:v>LGBM+SM</c:v>
                </c:pt>
                <c:pt idx="5">
                  <c:v>Final</c:v>
                </c:pt>
              </c:strCache>
            </c:strRef>
          </c:cat>
          <c:val>
            <c:numRef>
              <c:f>Sheet1!$B$2:$B$7</c:f>
              <c:numCache>
                <c:formatCode>0.000</c:formatCode>
                <c:ptCount val="6"/>
                <c:pt idx="0">
                  <c:v>0.5145</c:v>
                </c:pt>
                <c:pt idx="1">
                  <c:v>0.5379</c:v>
                </c:pt>
                <c:pt idx="2">
                  <c:v>0.5273</c:v>
                </c:pt>
                <c:pt idx="3">
                  <c:v>0.5313</c:v>
                </c:pt>
                <c:pt idx="4">
                  <c:v>0.5414</c:v>
                </c:pt>
                <c:pt idx="5">
                  <c:v>0.5424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0.5"/>
        </c:scaling>
        <c:delete val="0"/>
        <c:axPos val="l"/>
        <c:majorGridlines>
          <c:spPr>
            <a:ln w="6350" cap="flat">
              <a:solidFill>
                <a:srgbClr val="24355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355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strRef>
              <c:f>Sheet1!$A$2:$A$7</c:f>
              <c:strCache>
                <c:ptCount val="6"/>
                <c:pt idx="0">
                  <c:v>No debt stress (3 mo)</c:v>
                </c:pt>
                <c:pt idx="1">
                  <c:v>Can access emergency funds</c:v>
                </c:pt>
                <c:pt idx="2">
                  <c:v>Financial health score</c:v>
                </c:pt>
                <c:pt idx="3">
                  <c:v>Monthly income</c:v>
                </c:pt>
                <c:pt idx="4">
                  <c:v>Age group</c:v>
                </c:pt>
                <c:pt idx="5">
                  <c:v>County</c:v>
                </c:pt>
              </c:strCache>
            </c:strRef>
          </c:cat>
          <c:val>
            <c:numRef>
              <c:f>Sheet1!$B$2:$B$7</c:f>
              <c:numCache>
                <c:formatCode>0.000</c:formatCode>
                <c:ptCount val="6"/>
                <c:pt idx="0">
                  <c:v>0.00755</c:v>
                </c:pt>
                <c:pt idx="1">
                  <c:v>0.01005</c:v>
                </c:pt>
                <c:pt idx="2">
                  <c:v>0.01185</c:v>
                </c:pt>
                <c:pt idx="3">
                  <c:v>0.01359</c:v>
                </c:pt>
                <c:pt idx="4">
                  <c:v>0.01642</c:v>
                </c:pt>
                <c:pt idx="5">
                  <c:v>0.02653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0.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grounding the audience in the real-world problem. 52.6% — more than half of everyone surveyed — said their situation worsened. That's not a statistic, it's a crisis. Our model tries to understand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feature categories briefly. The key message on the right: we have a serious class imbalance problem. Accuracy is a lie here — Weighted F1 is our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precise about effect sizes. Shock: 60% vs 47% Worsened. No emergency cash: 59% vs 46% Worsened, and Improved 14% vs 28%. 3+ products: Improved 23% vs 16%, but Worsened 53% vs 50%, so products are not a shield on their own. These associations (not causes) informed the engineered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Pipeline: encoding, SMOTENC and scaling all sit inside an imbalanced-learn pipeline, so they are fitted on training folds only. Five models are compared with stratified 5-fold CV; LightGBM is tuned with a 24-iteration randomised search. The model is chosen on CV score, per-class decision weights (x1.2 for Improved and Stayed the same) are tuned on out-of-fold predictions, and the 20% test set is used once. fully_excluded was redefined: 'no formal service and no mobile money' was identical to 'no formal service'.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table per class. 'Stayed the same' is the hardest class (F1 0.36) because it is the middle ground. Be upfront: boosting + SMOTENC is a modest gain. CV: 0.548 vs 0.535 for the Random Forest (about 3 standard deviations); test: 0.542 vs 0.538 (within noise). Dropping the self-reported resilience items costs about 2 points (0.542 to 0.520), so the model is not just echoing them. Bars: LR = logistic regression, RF = random forest, LGBM = LightGBM, SM = SMOTENC, Final = LGBM+SMOTENC with tuned class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Permutation importance on the held-out test set: how much weighted F1 drops when a feature is shuffled. County, age group and income lead; the engineered financial health score is the top engineered feature and the top resilience signal. shock_no_savings and fully_excluded do NOT make the top 10. Fully excluded respondents are 78% rural but report 'Worsened' LESS often (44% vs 53%), so exclusion marks a different vulnerability rather than a worsening trajectory. Associations, not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human element. The model is a tool. The real output is the answer to: who needs help and what kind? Be ready for judges to push on how realistic these recommendations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analysis honestly before the recommendations: the model finds patterns worth acting on, but they are associations in a single survey wave, without survey weights. Next steps would be weighting, longitudinal data and a fairness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2435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Struggling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Financially in Kenya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and Why?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2024 FinAccess Household Survey data from 20,871 Kenyan adults across all 47 counties, we built a machine learning classifier to predict whether a person's financial situation Improved, Stayed the same, or Worsened — and to identify the key drivers.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× iLab Africa  |  Strathmore University  |  June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0" y="32004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4297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52.6%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035040" y="10332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Kenyans surveyed reported their financial situation Worsened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892808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2002536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respondents use no formal service, informal savings or informal loans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3465576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357530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20,871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35040" y="417880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 across all 47 counties in 2024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FinAccess Household Survey  |  20,871 rows × 28 columns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24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County, Location, Sex, Age, Education, Marital 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50292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801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Livelihood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Income, Experienced Shock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50292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Digital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Ownership, Mobile Money Access, Barriers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50292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355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Behaviour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301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Formal/Informal Savings &amp; Loans, Defaulted, Products Used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069080"/>
            <a:ext cx="50292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1330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4074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Security, Spending Management, Debt Stress, Emergency Access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0" y="914400"/>
          <a:ext cx="3291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486400" y="3977640"/>
            <a:ext cx="3291840" cy="914400"/>
          </a:xfrm>
          <a:prstGeom prst="roundRect">
            <a:avLst>
              <a:gd name="adj" fmla="val 7000"/>
            </a:avLst>
          </a:prstGeom>
          <a:solidFill>
            <a:srgbClr val="FDF3D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623560" y="4041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Class Imbalance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23560" y="43159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model predicting only 'Worsened' gets 52.6% accuracy — but is 100% useless. We use Weighted F1-Score.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resilience matters at least as much as income.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60020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raise the risk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2834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 who experienced a financial shock are more likely to report 'Worsened': 60% vs 47% for those who did not.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access divides outcomes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2834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who CANNOT access KES 13,000 within a month report 'Worsened' 59% of the time and 'Improved' only 14%, vs 46% and 28% for those who can.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products help, but only partly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2834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using 3+ financial products report 'Improved' more often (23% vs 16% for 0-1 products), but 'Worsened' stays near 50%: usage alone is not protection.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4572000"/>
            <a:ext cx="8503920" cy="438912"/>
          </a:xfrm>
          <a:prstGeom prst="roundRect">
            <a:avLst>
              <a:gd name="adj" fmla="val 12500"/>
            </a:avLst>
          </a:prstGeom>
          <a:solidFill>
            <a:srgbClr val="24355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60857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insights directly informed our engineered features: financial_health_score, shock_no_savings, fully_excluded, has_any_savings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04088" y="9144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17320" y="1234440"/>
            <a:ext cx="502920" cy="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" y="2029968"/>
            <a:ext cx="1371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5 duplicates. Fill barrier NAs with 'No barrier'. Tidy labels.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9736" y="9144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2459736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72968" y="1234440"/>
            <a:ext cx="502920" cy="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75688" y="196596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48840" y="2029968"/>
            <a:ext cx="1371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composite features from domain knowledge.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15384" y="9144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215384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28616" y="1234440"/>
            <a:ext cx="502920" cy="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22776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31336" y="196596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04488" y="2029968"/>
            <a:ext cx="1371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+ one-hot encoding inside the pipeline (no leakage).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71032" y="9144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971032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84264" y="1234440"/>
            <a:ext cx="502920" cy="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78424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86984" y="196596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0136" y="2029968"/>
            <a:ext cx="1371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split. 5-fold stratified CV on train.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26680" y="9144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34072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42632" y="196596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15784" y="2029968"/>
            <a:ext cx="1371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models, SMOTENC inside folds. LightGBM + SMOTENC chosen by CV.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154680"/>
            <a:ext cx="8595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273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financial_health_score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6849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4 NFHI indicators (0-4). Worsened falls from 76% to 35% across the scale.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5176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shock_no_savings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396849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shock AND no savings buffer. 18% of respondents; 62% report Worsened.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fully_excluded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396849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no formal service, no informal savings and no informal loans (9.3%).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4944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has_any_savings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396849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respondent uses any savings product (formal or informal).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" y="658368"/>
            <a:ext cx="2286000" cy="1920240"/>
          </a:xfrm>
          <a:prstGeom prst="roundRect">
            <a:avLst>
              <a:gd name="adj" fmla="val 4762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777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20040" y="17830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SMOTENC (test set)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6583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0" y="1051560"/>
          <a:ext cx="3383280" cy="1481328"/>
        </p:xfrm>
        <a:graphic>
          <a:graphicData uri="http://schemas.openxmlformats.org/drawingml/2006/table">
            <a:tbl>
              <a:tblPr/>
              <a:tblGrid>
                <a:gridCol w="1554480"/>
                <a:gridCol w="594360"/>
                <a:gridCol w="594360"/>
                <a:gridCol w="594360"/>
              </a:tblGrid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55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Stayed the same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55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834640" y="2633472"/>
            <a:ext cx="3383280" cy="777240"/>
          </a:xfrm>
          <a:prstGeom prst="roundRect">
            <a:avLst>
              <a:gd name="adj" fmla="val 8235"/>
            </a:avLst>
          </a:prstGeom>
          <a:solidFill>
            <a:srgbClr val="243558"/>
          </a:solidFill>
          <a:ln/>
        </p:spPr>
      </p:sp>
      <p:sp>
        <p:nvSpPr>
          <p:cNvPr id="9" name="Text 6"/>
          <p:cNvSpPr/>
          <p:nvPr/>
        </p:nvSpPr>
        <p:spPr>
          <a:xfrm>
            <a:off x="2971800" y="269748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'Worsened' (the majority class); 'Stayed the same' is hardest. LightGBM + SMOTENC beats the Random Forest in CV (0.548 vs 0.535) but only narrowly on test (0.542 vs 0.538).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658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(test F1)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309360" y="1005840"/>
          <a:ext cx="26060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4526280"/>
            <a:ext cx="8503920" cy="438912"/>
          </a:xfrm>
          <a:prstGeom prst="roundRect">
            <a:avLst>
              <a:gd name="adj" fmla="val 12500"/>
            </a:avLst>
          </a:prstGeom>
          <a:solidFill>
            <a:srgbClr val="243558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456285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weighted F1 (accounts for class imbalance). Test macro-F1 0.49, accuracy 0.55.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Drivers of Financial Status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9377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96012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68112" y="1124712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5468112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16752" y="1024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16752" y="13167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signal: 'Worsened' ranges from 28% (Wajir) to 73% (Kisumu).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49240" y="196596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68112" y="2130552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3" name="Text 10"/>
          <p:cNvSpPr/>
          <p:nvPr/>
        </p:nvSpPr>
        <p:spPr>
          <a:xfrm>
            <a:off x="546811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16752" y="20299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016752" y="23225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'Worsened' climbs from 41% (ages 18-25) to 59-61% for ages 36 and over.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349240" y="29718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68112" y="3136392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5"/>
          <p:cNvSpPr/>
          <p:nvPr/>
        </p:nvSpPr>
        <p:spPr>
          <a:xfrm>
            <a:off x="546811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16752" y="3035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016752" y="33284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Matters, but overlaps widely: median KES 7,000 (Improved) vs 5,000 (others).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49240" y="397764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68112" y="4142232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3" name="Text 20"/>
          <p:cNvSpPr/>
          <p:nvPr/>
        </p:nvSpPr>
        <p:spPr>
          <a:xfrm>
            <a:off x="546811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016752" y="4041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016752" y="433425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resilience score: 'Worsened' falls from 76% (score 0) to 35% (score 4).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policymakers, banks, and NGOs prioritise?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618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Policymakers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29968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1214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basic accounts fee-free: affordability is the top bank barrier (68%); eligibility/ID is 10%.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990088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081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safety nets for households scoring 0-1 on the financial health scale (64-76% report Worsened).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950208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40416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affordable micro-insurance, starting in high-Worsened counties (e.g. Kisumu 73%, Homabay 71%).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618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Banks &amp; SACCOs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029968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21214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fees on basic accounts and agent transactions: cost, not distance, is the barrier (68% vs 7% 'access').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2990088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081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emergency credit products for shock-hit customers before they default.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3950208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40416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small-ticket savings: a shock with no savings means 62% Worsened vs 51% otherwise.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26187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2618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NGOs &amp; Development Partners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2029968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21214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financial literacy for low-income groups — income alone does not prevent worsening.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990088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3081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'shock + no savings' households (18% of respondents) for emergency cash transfers.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3950208"/>
            <a:ext cx="2697480" cy="841248"/>
          </a:xfrm>
          <a:prstGeom prst="roundRect">
            <a:avLst>
              <a:gd name="adj" fmla="val 7609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40416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mobile operators on phone-ownership barriers for the fully excluded (78% rural).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E8A83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data point is a real person. Our model shows who needs help most — now it's over to policymakers to act.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can and cannot tell us.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60020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Associations, not causes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2834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is cross-sectional and several predictors are self-reported alongside the outcome. Dropping them costs about 2 F1 points (0.542 to 0.520).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ceiling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2834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0.54, accuracy 55%. 'Stayed the same' is hardest (F1 0.36). Use it to prioritise groups, not to judge individuals.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24355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Sample, not nation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2834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survey weights are in this file, so figures describe the sample (n = 20,866). County rates rest on 162-637 people each (about +/-4 points).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4572000"/>
            <a:ext cx="8503920" cy="438912"/>
          </a:xfrm>
          <a:prstGeom prst="roundRect">
            <a:avLst>
              <a:gd name="adj" fmla="val 12500"/>
            </a:avLst>
          </a:prstGeom>
          <a:solidFill>
            <a:srgbClr val="24355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60857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apply survey weights, add panel data, and test fairness across counties, age groups and sex.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DataSprint 2026 — Financial Inclusion Classifier</dc:title>
  <dc:subject>PptxGenJS Presentation</dc:subject>
  <dc:creator>PptxGenJS</dc:creator>
  <cp:lastModifiedBy>PptxGenJS</cp:lastModifiedBy>
  <cp:revision>1</cp:revision>
  <dcterms:created xsi:type="dcterms:W3CDTF">2026-06-16T02:38:09Z</dcterms:created>
  <dcterms:modified xsi:type="dcterms:W3CDTF">2026-06-16T02:38:09Z</dcterms:modified>
</cp:coreProperties>
</file>