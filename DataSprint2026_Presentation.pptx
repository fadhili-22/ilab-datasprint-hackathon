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300" b="0" i="0" u="none" strike="noStrike">
                <a:solidFill>
                  <a:srgbClr val="000000"/>
                </a:solidFill>
                <a:latin typeface="Arial"/>
              </a:rPr>
              <a:t>Target Distribution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Financial 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bubble3D val="0"/>
            <c:spPr>
              <a:solidFill>
                <a:srgbClr val="F39C12"/>
              </a:solidFill>
              <a:effectLst/>
            </c:spPr>
          </c:dPt>
          <c:dPt>
            <c:idx val="2"/>
            <c:bubble3D val="0"/>
            <c:spPr>
              <a:solidFill>
                <a:srgbClr val="27AE60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Worsened</c:v>
                </c:pt>
                <c:pt idx="1">
                  <c:v>Stayed the same</c:v>
                </c:pt>
                <c:pt idx="2">
                  <c:v>Improved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52.6</c:v>
                </c:pt>
                <c:pt idx="1">
                  <c:v>26.9</c:v>
                </c:pt>
                <c:pt idx="2">
                  <c:v>20.5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solidFill>
      <a:srgbClr val="F7F9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Weighted F1</c:v>
                </c:pt>
              </c:strCache>
            </c:strRef>
          </c:tx>
          <c:spPr>
            <a:solidFill>
              <a:srgbClr val="4A6FA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6FA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B8CC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7AE6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LR baseline</c:v>
                  </c:pt>
                  <c:pt idx="1">
                    <c:v>LR tuned</c:v>
                  </c:pt>
                  <c:pt idx="2">
                    <c:v>RF tuned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</c:v>
                </c:pt>
                <c:pt idx="1">
                  <c:v>0.514</c:v>
                </c:pt>
                <c:pt idx="2">
                  <c:v>0.54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ADCF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"/>
          <c:min val="0.45"/>
        </c:scaling>
        <c:delete val="0"/>
        <c:axPos val="l"/>
        <c:majorGridlines>
          <c:spPr>
            <a:ln w="6350" cap="flat">
              <a:solidFill>
                <a:srgbClr val="24355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ADCF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243558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90D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90D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8A83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7AE60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prodsum1</c:v>
                  </c:pt>
                  <c:pt idx="1">
                    <c:v>monthly_income</c:v>
                  </c:pt>
                  <c:pt idx="2">
                    <c:v>has_any_savings</c:v>
                  </c:pt>
                  <c:pt idx="3">
                    <c:v>fully_excluded</c:v>
                  </c:pt>
                  <c:pt idx="4">
                    <c:v>shock_no_savings</c:v>
                  </c:pt>
                  <c:pt idx="5">
                    <c:v>financial_health_score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320</c:v>
                </c:pt>
                <c:pt idx="1">
                  <c:v>410</c:v>
                </c:pt>
                <c:pt idx="2">
                  <c:v>480</c:v>
                </c:pt>
                <c:pt idx="3">
                  <c:v>530</c:v>
                </c:pt>
                <c:pt idx="4">
                  <c:v>620</c:v>
                </c:pt>
                <c:pt idx="5">
                  <c:v>890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4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by grounding the audience in the real-world problem. 52.6% — more than half of everyone surveyed — said their situation worsened. That's not a statistic, it's a crisis. Our model tries to understand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five feature categories briefly. The key message on the right: we have a serious class imbalance problem. Accuracy is a lie here — Weighted F1 is our metric.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heart of your EDA story. Shocks, emergency access, and product diversity matter more than income alone. That's a policy-relevant finding that goes beyond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the feature engineering step — this is where domain knowledge enters the model. financial_health_score alone captures 4 columns into one meaningful signal. Judges will ask about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table per class. The model struggles most on 'Stayed the same' — intuitively the hardest class because it's the middle ground. Honest about limitations: we would improve further with SMOTE and LightGBM.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most important slide for judges. The engineered features dominate — this validates our domain-knowledge decisions. Emphasise: income matters but it's not destiny. Behaviour and resilience matter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human element. The model is a tool. The real output is the answer to: who needs help and what kind? Be ready for judges to push on how realistic these recommendations 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9280" cy="5143500"/>
          </a:xfrm>
          <a:prstGeom prst="rect">
            <a:avLst/>
          </a:prstGeom>
          <a:solidFill>
            <a:srgbClr val="24355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29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DataSprint 2026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is Struggling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Financially in Kenya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 and Why?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32461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2024 FinAccess Household Survey data from 20,871 Kenyan adults across all 47 counties, we built a machine learning classifier to predict whether a person's financial situation Improved, Stayed the same, or Worsened — and to identify the key drivers.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SDC × iLab Africa  |  Strathmore University  |  June 2026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43600" y="320040"/>
            <a:ext cx="2880360" cy="1371600"/>
          </a:xfrm>
          <a:prstGeom prst="roundRect">
            <a:avLst>
              <a:gd name="adj" fmla="val 5333"/>
            </a:avLst>
          </a:prstGeom>
          <a:solidFill>
            <a:srgbClr val="24355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035040" y="429768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52.6%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035040" y="1033272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Kenyans surveyed reported their financial situation Worsened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943600" y="1892808"/>
            <a:ext cx="2880360" cy="1371600"/>
          </a:xfrm>
          <a:prstGeom prst="roundRect">
            <a:avLst>
              <a:gd name="adj" fmla="val 5333"/>
            </a:avLst>
          </a:prstGeom>
          <a:solidFill>
            <a:srgbClr val="24355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035040" y="2002536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8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9.9%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035040" y="260604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adults remain fully excluded from all financial services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0" y="3465576"/>
            <a:ext cx="2880360" cy="1371600"/>
          </a:xfrm>
          <a:prstGeom prst="roundRect">
            <a:avLst>
              <a:gd name="adj" fmla="val 5333"/>
            </a:avLst>
          </a:prstGeom>
          <a:solidFill>
            <a:srgbClr val="24355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3575304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7AE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20,871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035040" y="4178808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respondents across all 47 counties in 2024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Overview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0" y="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FinAccess Household Survey  |  20,871 rows × 28 columns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5029200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0241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29844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County, Location, Sex, Age, Education, Marital Status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1737360"/>
            <a:ext cx="5029200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8013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Livelihood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207568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Income, Experienced Shock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514600"/>
            <a:ext cx="5029200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02920" y="25786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&amp; Digital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28529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Ownership, Mobile Money Access, Barriers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3291840"/>
            <a:ext cx="5029200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" y="33558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Behaviour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363016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Formal/Informal Savings &amp; Loans, Defaulted, Products Used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4069080"/>
            <a:ext cx="5029200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02920" y="413308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Health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" y="44074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Security, Spending Management, Debt Stress, Emergency Access</a:t>
            </a:r>
            <a:endParaRPr lang="en-US" sz="10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5486400" y="914400"/>
          <a:ext cx="32918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Shape 18"/>
          <p:cNvSpPr/>
          <p:nvPr/>
        </p:nvSpPr>
        <p:spPr>
          <a:xfrm>
            <a:off x="5486400" y="3977640"/>
            <a:ext cx="3291840" cy="914400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5623560" y="40416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Class Imbalance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623560" y="431596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naive model predicting only 'Worsened' gets 52.6% accuracy — but is 100% useless. We use Weighted F1-Score.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EDA Finding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resilience, not income alone, determines outcomes.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600200"/>
            <a:ext cx="2697480" cy="3246120"/>
          </a:xfrm>
          <a:prstGeom prst="roundRect">
            <a:avLst>
              <a:gd name="adj" fmla="val 3390"/>
            </a:avLst>
          </a:prstGeom>
          <a:solidFill>
            <a:srgbClr val="24355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7373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Shocks are decisive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84632" y="283464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Respondents who experienced a financial shock are over-represented in 'Worsened' by a 2:1 margin vs those who did not.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46120" y="1600200"/>
            <a:ext cx="2697480" cy="3246120"/>
          </a:xfrm>
          <a:prstGeom prst="roundRect">
            <a:avLst>
              <a:gd name="adj" fmla="val 3390"/>
            </a:avLst>
          </a:prstGeom>
          <a:solidFill>
            <a:srgbClr val="24355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83280" y="17373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🛡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383280" y="228600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access divides outcomes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10712" y="283464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who CANNOT access KES 13,000 in an emergency are concentrated almost entirely in the Worsened category.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1600200"/>
            <a:ext cx="2697480" cy="3246120"/>
          </a:xfrm>
          <a:prstGeom prst="roundRect">
            <a:avLst>
              <a:gd name="adj" fmla="val 3390"/>
            </a:avLst>
          </a:prstGeom>
          <a:solidFill>
            <a:srgbClr val="24355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09360" y="17373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📊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309360" y="228600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products = better outcomes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36792" y="283464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using 3+ financial products report improved or stable outcomes at twice the rate of those using 0–1 products.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20040" y="4572000"/>
            <a:ext cx="8503920" cy="438912"/>
          </a:xfrm>
          <a:prstGeom prst="roundRect">
            <a:avLst>
              <a:gd name="adj" fmla="val 12500"/>
            </a:avLst>
          </a:prstGeom>
          <a:solidFill>
            <a:srgbClr val="243558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4608576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insights directly informed our engineered features: financial_health_score, shock_no_savings, fully_excluded, has_any_savings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Modelling Approach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04088" y="914400"/>
            <a:ext cx="640080" cy="64008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704088" y="914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A8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417320" y="1234440"/>
            <a:ext cx="502920" cy="0"/>
          </a:xfrm>
          <a:prstGeom prst="line">
            <a:avLst/>
          </a:prstGeom>
          <a:noFill/>
          <a:ln w="25400">
            <a:solidFill>
              <a:srgbClr val="E8A8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6002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965960"/>
            <a:ext cx="150876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93192" y="2029968"/>
            <a:ext cx="1371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barriers_bank NAs with 'No barrier'. Drop 5 duplicates.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459736" y="914400"/>
            <a:ext cx="640080" cy="64008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2459736" y="914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A8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172968" y="1234440"/>
            <a:ext cx="502920" cy="0"/>
          </a:xfrm>
          <a:prstGeom prst="line">
            <a:avLst/>
          </a:prstGeom>
          <a:noFill/>
          <a:ln w="25400">
            <a:solidFill>
              <a:srgbClr val="E8A8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67128" y="16002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075688" y="1965960"/>
            <a:ext cx="150876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148840" y="2029968"/>
            <a:ext cx="1371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composite features from domain knowledge.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215384" y="914400"/>
            <a:ext cx="640080" cy="64008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4215384" y="914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A8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928616" y="1234440"/>
            <a:ext cx="502920" cy="0"/>
          </a:xfrm>
          <a:prstGeom prst="line">
            <a:avLst/>
          </a:prstGeom>
          <a:noFill/>
          <a:ln w="25400">
            <a:solidFill>
              <a:srgbClr val="E8A8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22776" y="16002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831336" y="1965960"/>
            <a:ext cx="150876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904488" y="2029968"/>
            <a:ext cx="1371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One-hot encoding. Sanitised column names.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971032" y="914400"/>
            <a:ext cx="640080" cy="64008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5971032" y="914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A8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84264" y="1234440"/>
            <a:ext cx="502920" cy="0"/>
          </a:xfrm>
          <a:prstGeom prst="line">
            <a:avLst/>
          </a:prstGeom>
          <a:noFill/>
          <a:ln w="25400">
            <a:solidFill>
              <a:srgbClr val="E8A83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78424" y="16002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586984" y="1965960"/>
            <a:ext cx="150876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660136" y="2029968"/>
            <a:ext cx="1371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80/20 stratified split. Scale numerics on train only.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726680" y="914400"/>
            <a:ext cx="640080" cy="64008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9" name="Text 27"/>
          <p:cNvSpPr/>
          <p:nvPr/>
        </p:nvSpPr>
        <p:spPr>
          <a:xfrm>
            <a:off x="7726680" y="914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A8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434072" y="16002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342632" y="1965960"/>
            <a:ext cx="150876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415784" y="2029968"/>
            <a:ext cx="1371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Random Forest. class_weight='balanced_subsample'.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74320" y="3154680"/>
            <a:ext cx="85953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02920" y="32735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Features  (the biggest quality jump)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02920" y="367588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financial_health_score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396849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of 4 NFHI indicators (0–4). Single composite resilience score.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2651760" y="367588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shock_no_savings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651760" y="396849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if shock occurred AND respondent has zero savings buffer.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800600" y="367588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fully_excluded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800600" y="396849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if no formal service use AND no mobile money access.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949440" y="367588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has_any_savings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949440" y="396849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if respondent uses any savings product (formal or informal).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20040" y="658368"/>
            <a:ext cx="2286000" cy="1920240"/>
          </a:xfrm>
          <a:prstGeom prst="roundRect">
            <a:avLst>
              <a:gd name="adj" fmla="val 4762"/>
            </a:avLst>
          </a:prstGeom>
          <a:solidFill>
            <a:srgbClr val="24355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20040" y="7772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7AE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0.54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320040" y="178308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F1-Score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Random Forest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834640" y="65836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Performance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834640" y="1051560"/>
          <a:ext cx="3383280" cy="1481328"/>
        </p:xfrm>
        <a:graphic>
          <a:graphicData uri="http://schemas.openxmlformats.org/drawingml/2006/table">
            <a:tbl>
              <a:tblPr/>
              <a:tblGrid>
                <a:gridCol w="1554480"/>
                <a:gridCol w="594360"/>
                <a:gridCol w="594360"/>
                <a:gridCol w="594360"/>
              </a:tblGrid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435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435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435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43558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39C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Stayed the same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435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435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435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39C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43558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Worsened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2834640" y="2633472"/>
            <a:ext cx="3383280" cy="777240"/>
          </a:xfrm>
          <a:prstGeom prst="roundRect">
            <a:avLst>
              <a:gd name="adj" fmla="val 8235"/>
            </a:avLst>
          </a:prstGeom>
          <a:solidFill>
            <a:srgbClr val="243558"/>
          </a:solidFill>
          <a:ln/>
        </p:spPr>
      </p:sp>
      <p:sp>
        <p:nvSpPr>
          <p:cNvPr id="9" name="Text 6"/>
          <p:cNvSpPr/>
          <p:nvPr/>
        </p:nvSpPr>
        <p:spPr>
          <a:xfrm>
            <a:off x="2971800" y="2697480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performs best on 'Worsened' (the majority class) and struggles most on 'Stayed the same'. This is expected with imbalanced data — further gains would require SMOTE or boosting.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0" y="65836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Progression</a:t>
            </a:r>
            <a:endParaRPr lang="en-US" sz="13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6309360" y="1005840"/>
          <a:ext cx="260604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8"/>
          <p:cNvSpPr/>
          <p:nvPr/>
        </p:nvSpPr>
        <p:spPr>
          <a:xfrm>
            <a:off x="320040" y="4526280"/>
            <a:ext cx="8503920" cy="438912"/>
          </a:xfrm>
          <a:prstGeom prst="roundRect">
            <a:avLst>
              <a:gd name="adj" fmla="val 12500"/>
            </a:avLst>
          </a:prstGeom>
          <a:solidFill>
            <a:srgbClr val="243558"/>
          </a:solidFill>
          <a:ln/>
        </p:spPr>
      </p:sp>
      <p:sp>
        <p:nvSpPr>
          <p:cNvPr id="13" name="Text 9"/>
          <p:cNvSpPr/>
          <p:nvPr/>
        </p:nvSpPr>
        <p:spPr>
          <a:xfrm>
            <a:off x="502920" y="4562856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metric: Weighted F1-Score — accounts for class imbalance. Accuracy alone would be misleading.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Drivers of Financial Deterioration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132320" y="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Guiding Question Answer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914400"/>
          <a:ext cx="49377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349240" y="960120"/>
            <a:ext cx="35204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68112" y="1124712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8" name="Text 5"/>
          <p:cNvSpPr/>
          <p:nvPr/>
        </p:nvSpPr>
        <p:spPr>
          <a:xfrm>
            <a:off x="5468112" y="1124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016752" y="102412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Health Score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016752" y="1316736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composite of 4 resilience indicators. The single strongest predictor.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349240" y="1965960"/>
            <a:ext cx="35204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468112" y="2130552"/>
            <a:ext cx="457200" cy="457200"/>
          </a:xfrm>
          <a:prstGeom prst="ellipse">
            <a:avLst/>
          </a:prstGeom>
          <a:solidFill>
            <a:srgbClr val="E8A838"/>
          </a:solidFill>
          <a:ln/>
        </p:spPr>
      </p:sp>
      <p:sp>
        <p:nvSpPr>
          <p:cNvPr id="13" name="Text 10"/>
          <p:cNvSpPr/>
          <p:nvPr/>
        </p:nvSpPr>
        <p:spPr>
          <a:xfrm>
            <a:off x="5468112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016752" y="20299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Shock + No Savings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016752" y="2322576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dangerous combination. A shock with zero buffer almost guarantees worsening.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349240" y="2971800"/>
            <a:ext cx="35204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68112" y="3136392"/>
            <a:ext cx="457200" cy="45720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8" name="Text 15"/>
          <p:cNvSpPr/>
          <p:nvPr/>
        </p:nvSpPr>
        <p:spPr>
          <a:xfrm>
            <a:off x="5468112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16752" y="303580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Excluded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016752" y="3328416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formal services + no mobile money. Mostly rural, often without national ID.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349240" y="3977640"/>
            <a:ext cx="35204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468112" y="4142232"/>
            <a:ext cx="457200" cy="457200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3" name="Text 20"/>
          <p:cNvSpPr/>
          <p:nvPr/>
        </p:nvSpPr>
        <p:spPr>
          <a:xfrm>
            <a:off x="5468112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016752" y="40416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Income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6016752" y="4334256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but not decisive — many low-income respondents still improved.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should policymakers, banks, and NGOs prioritise?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261872"/>
            <a:ext cx="2697480" cy="658368"/>
          </a:xfrm>
          <a:prstGeom prst="roundRect">
            <a:avLst>
              <a:gd name="adj" fmla="val 11111"/>
            </a:avLst>
          </a:prstGeom>
          <a:solidFill>
            <a:srgbClr val="E8A838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261872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  Policymakers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2029968"/>
            <a:ext cx="2697480" cy="841248"/>
          </a:xfrm>
          <a:prstGeom prst="roundRect">
            <a:avLst>
              <a:gd name="adj" fmla="val 7609"/>
            </a:avLst>
          </a:prstGeom>
          <a:solidFill>
            <a:srgbClr val="24355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" y="212140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national ID registration — exclusion is often a documentation problem first.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4320" y="2990088"/>
            <a:ext cx="2697480" cy="841248"/>
          </a:xfrm>
          <a:prstGeom prst="roundRect">
            <a:avLst>
              <a:gd name="adj" fmla="val 7609"/>
            </a:avLst>
          </a:prstGeom>
          <a:solidFill>
            <a:srgbClr val="24355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11480" y="308152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safety-net programmes targeting households scoring 0–1 on the financial health scale.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3950208"/>
            <a:ext cx="2697480" cy="841248"/>
          </a:xfrm>
          <a:prstGeom prst="roundRect">
            <a:avLst>
              <a:gd name="adj" fmla="val 7609"/>
            </a:avLst>
          </a:prstGeom>
          <a:solidFill>
            <a:srgbClr val="24355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11480" y="404164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 affordable micro-insurance products in underserved counties.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00400" y="1261872"/>
            <a:ext cx="2697480" cy="658368"/>
          </a:xfrm>
          <a:prstGeom prst="roundRect">
            <a:avLst>
              <a:gd name="adj" fmla="val 11111"/>
            </a:avLst>
          </a:prstGeom>
          <a:solidFill>
            <a:srgbClr val="4A90D9"/>
          </a:solidFill>
          <a:ln/>
        </p:spPr>
      </p:sp>
      <p:sp>
        <p:nvSpPr>
          <p:cNvPr id="13" name="Text 11"/>
          <p:cNvSpPr/>
          <p:nvPr/>
        </p:nvSpPr>
        <p:spPr>
          <a:xfrm>
            <a:off x="3291840" y="1261872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🏦  Banks &amp; SACCOs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00400" y="2029968"/>
            <a:ext cx="2697480" cy="841248"/>
          </a:xfrm>
          <a:prstGeom prst="roundRect">
            <a:avLst>
              <a:gd name="adj" fmla="val 7609"/>
            </a:avLst>
          </a:prstGeom>
          <a:solidFill>
            <a:srgbClr val="24355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337560" y="212140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agent banking in rural areas — geographic access remains a core barrier.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0" y="2990088"/>
            <a:ext cx="2697480" cy="841248"/>
          </a:xfrm>
          <a:prstGeom prst="roundRect">
            <a:avLst>
              <a:gd name="adj" fmla="val 7609"/>
            </a:avLst>
          </a:prstGeom>
          <a:solidFill>
            <a:srgbClr val="24355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337560" y="308152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emergency credit products for shock-hit customers before they default.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0" y="3950208"/>
            <a:ext cx="2697480" cy="841248"/>
          </a:xfrm>
          <a:prstGeom prst="roundRect">
            <a:avLst>
              <a:gd name="adj" fmla="val 7609"/>
            </a:avLst>
          </a:prstGeom>
          <a:solidFill>
            <a:srgbClr val="24355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337560" y="404164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Incentivise uptake of 3+ products; active inclusion predicts resilience.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26480" y="1261872"/>
            <a:ext cx="2697480" cy="658368"/>
          </a:xfrm>
          <a:prstGeom prst="roundRect">
            <a:avLst>
              <a:gd name="adj" fmla="val 11111"/>
            </a:avLst>
          </a:prstGeom>
          <a:solidFill>
            <a:srgbClr val="27AE60"/>
          </a:solidFill>
          <a:ln/>
        </p:spPr>
      </p:sp>
      <p:sp>
        <p:nvSpPr>
          <p:cNvPr id="21" name="Text 19"/>
          <p:cNvSpPr/>
          <p:nvPr/>
        </p:nvSpPr>
        <p:spPr>
          <a:xfrm>
            <a:off x="6217920" y="1261872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 NGOs &amp; Development Partners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126480" y="2029968"/>
            <a:ext cx="2697480" cy="841248"/>
          </a:xfrm>
          <a:prstGeom prst="roundRect">
            <a:avLst>
              <a:gd name="adj" fmla="val 7609"/>
            </a:avLst>
          </a:prstGeom>
          <a:solidFill>
            <a:srgbClr val="24355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263640" y="212140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 financial literacy for low-income groups — income alone does not prevent worsening.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26480" y="2990088"/>
            <a:ext cx="2697480" cy="841248"/>
          </a:xfrm>
          <a:prstGeom prst="roundRect">
            <a:avLst>
              <a:gd name="adj" fmla="val 7609"/>
            </a:avLst>
          </a:prstGeom>
          <a:solidFill>
            <a:srgbClr val="24355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263640" y="308152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'shock + no savings' households for emergency cash transfers.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126480" y="3950208"/>
            <a:ext cx="2697480" cy="841248"/>
          </a:xfrm>
          <a:prstGeom prst="roundRect">
            <a:avLst>
              <a:gd name="adj" fmla="val 7609"/>
            </a:avLst>
          </a:prstGeom>
          <a:solidFill>
            <a:srgbClr val="24355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263640" y="404164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mobile operators to remove barriers for the fully excluded.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74320" y="4663440"/>
            <a:ext cx="8595360" cy="347472"/>
          </a:xfrm>
          <a:prstGeom prst="roundRect">
            <a:avLst>
              <a:gd name="adj" fmla="val 15789"/>
            </a:avLst>
          </a:prstGeom>
          <a:solidFill>
            <a:srgbClr val="E8A838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681728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every data point is a real person. Our model shows who needs help most — now it's over to policymakers to act.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DataSprint 2026 — Financial Inclusion Classifier</dc:title>
  <dc:subject>PptxGenJS Presentation</dc:subject>
  <dc:creator>PptxGenJS</dc:creator>
  <cp:lastModifiedBy>PptxGenJS</cp:lastModifiedBy>
  <cp:revision>1</cp:revision>
  <dcterms:created xsi:type="dcterms:W3CDTF">2026-06-16T02:38:09Z</dcterms:created>
  <dcterms:modified xsi:type="dcterms:W3CDTF">2026-06-16T02:38:09Z</dcterms:modified>
</cp:coreProperties>
</file>